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4" r:id="rId4"/>
    <p:sldId id="258" r:id="rId5"/>
    <p:sldId id="265" r:id="rId6"/>
    <p:sldId id="259" r:id="rId7"/>
    <p:sldId id="268" r:id="rId8"/>
    <p:sldId id="266" r:id="rId9"/>
    <p:sldId id="267" r:id="rId10"/>
    <p:sldId id="260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32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453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0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159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9821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685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633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343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178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740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94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5376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62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19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4711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71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8311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2332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678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6733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789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232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2117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627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000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3600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01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558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r" defTabSz="914400" rtl="1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r" defTabSz="914400" rtl="1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r" defTabSz="914400" rtl="1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r" defTabSz="914400" rtl="1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r" defTabSz="914400" rtl="1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34440"/>
            <a:ext cx="5813002" cy="22159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32A"/>
                </a:solidFill>
              </a:defRPr>
            </a:pPr>
            <a:r>
              <a:rPr dirty="0"/>
              <a:t>Transfer Learning for</a:t>
            </a:r>
            <a:br>
              <a:rPr dirty="0"/>
            </a:br>
            <a:r>
              <a:rPr dirty="0"/>
              <a:t>3D-Printed Image Classification</a:t>
            </a:r>
            <a:br>
              <a:rPr lang="en-US" dirty="0"/>
            </a:br>
            <a:endParaRPr dirty="0"/>
          </a:p>
          <a:p>
            <a:pPr>
              <a:defRPr sz="2000">
                <a:solidFill>
                  <a:srgbClr val="285F8C"/>
                </a:solidFill>
              </a:defRPr>
            </a:pPr>
            <a:r>
              <a:rPr dirty="0"/>
              <a:t>VGG16 vs. ResNet50 vs. DenseNet121</a:t>
            </a:r>
          </a:p>
          <a:p>
            <a:pPr>
              <a:defRPr sz="1600">
                <a:solidFill>
                  <a:srgbClr val="5F6973"/>
                </a:solidFill>
              </a:defRPr>
            </a:pPr>
            <a:r>
              <a:rPr dirty="0"/>
              <a:t>Yuval Shaanan &amp; Amit Shraga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886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E232A"/>
                </a:solidFill>
              </a:defRPr>
            </a:pPr>
            <a:r>
              <a:rPr dirty="0"/>
              <a:t>Goal: classify images as 3D-Printed or Not 3D-Printed</a:t>
            </a:r>
          </a:p>
          <a:p>
            <a:pPr>
              <a:spcAft>
                <a:spcPts val="1300"/>
              </a:spcAft>
              <a:defRPr sz="1900">
                <a:solidFill>
                  <a:srgbClr val="1E232A"/>
                </a:solidFill>
              </a:defRPr>
            </a:pPr>
            <a:r>
              <a:rPr dirty="0"/>
              <a:t>Question: which pretrained architecture adapts best to this visual task?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A"/>
                </a:solidFill>
              </a:defRPr>
            </a:pPr>
            <a:r>
              <a:t>Dataset &amp; Experimental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3"/>
                </a:solidFill>
              </a:defRPr>
            </a:pPr>
            <a:r>
              <a:t>What we actually trained 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6973"/>
                </a:solidFill>
              </a:defRPr>
            </a:pPr>
            <a:r>
              <a:rPr dirty="0"/>
              <a:t>Original corpus</a:t>
            </a:r>
          </a:p>
          <a:p>
            <a:pPr>
              <a:defRPr sz="3100" b="1">
                <a:solidFill>
                  <a:srgbClr val="285F8C"/>
                </a:solidFill>
              </a:defRPr>
            </a:pPr>
            <a:r>
              <a:rPr dirty="0"/>
              <a:t>51,520</a:t>
            </a:r>
          </a:p>
          <a:p>
            <a:pPr>
              <a:defRPr sz="1300">
                <a:solidFill>
                  <a:srgbClr val="1E232A"/>
                </a:solidFill>
              </a:defRPr>
            </a:pPr>
            <a:r>
              <a:rPr dirty="0"/>
              <a:t>images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6973"/>
                </a:solidFill>
              </a:defRPr>
            </a:pPr>
            <a:r>
              <a:t>After filtering</a:t>
            </a:r>
          </a:p>
          <a:p>
            <a:pPr>
              <a:defRPr sz="3100" b="1">
                <a:solidFill>
                  <a:srgbClr val="285F8C"/>
                </a:solidFill>
              </a:defRPr>
            </a:pPr>
            <a:r>
              <a:t>51,488</a:t>
            </a:r>
          </a:p>
          <a:p>
            <a:pPr>
              <a:defRPr sz="1300">
                <a:solidFill>
                  <a:srgbClr val="1E232A"/>
                </a:solidFill>
              </a:defRPr>
            </a:pPr>
            <a:r>
              <a:t>valid 256×256 RGB images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6973"/>
                </a:solidFill>
              </a:defRPr>
            </a:pPr>
            <a:r>
              <a:t>Training subset</a:t>
            </a:r>
          </a:p>
          <a:p>
            <a:pPr>
              <a:defRPr sz="3100" b="1">
                <a:solidFill>
                  <a:srgbClr val="285F8C"/>
                </a:solidFill>
              </a:defRPr>
            </a:pPr>
            <a:r>
              <a:t>3,000</a:t>
            </a:r>
          </a:p>
          <a:p>
            <a:pPr>
              <a:defRPr sz="1300">
                <a:solidFill>
                  <a:srgbClr val="1E232A"/>
                </a:solidFill>
              </a:defRPr>
            </a:pPr>
            <a:r>
              <a:t>1,500 per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69080"/>
            <a:ext cx="10515600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1E232A"/>
                </a:solidFill>
              </a:defRPr>
            </a:pPr>
            <a:r>
              <a:rPr dirty="0"/>
              <a:t>80 / 10 / 10 stratified split</a:t>
            </a:r>
          </a:p>
          <a:p>
            <a:pPr>
              <a:spcAft>
                <a:spcPts val="1300"/>
              </a:spcAft>
              <a:defRPr sz="1600">
                <a:solidFill>
                  <a:srgbClr val="1E232A"/>
                </a:solidFill>
              </a:defRPr>
            </a:pPr>
            <a:r>
              <a:rPr dirty="0"/>
              <a:t>Train: 2,400  |  Validation: 300  |  Test: 300</a:t>
            </a:r>
          </a:p>
          <a:p>
            <a:pPr>
              <a:spcAft>
                <a:spcPts val="1300"/>
              </a:spcAft>
              <a:defRPr sz="1600">
                <a:solidFill>
                  <a:srgbClr val="1E232A"/>
                </a:solidFill>
              </a:defRPr>
            </a:pPr>
            <a:r>
              <a:rPr dirty="0"/>
              <a:t>Test set: exactly 150 3D-Printed + 150 Not 3D-Printed</a:t>
            </a:r>
          </a:p>
          <a:p>
            <a:pPr>
              <a:spcAft>
                <a:spcPts val="1300"/>
              </a:spcAft>
              <a:defRPr sz="1600">
                <a:solidFill>
                  <a:srgbClr val="1E232A"/>
                </a:solidFill>
              </a:defRPr>
            </a:pPr>
            <a:r>
              <a:rPr dirty="0"/>
              <a:t>The full corpus was computationally expensive</a:t>
            </a:r>
            <a:r>
              <a:rPr lang="en-US" dirty="0"/>
              <a:t> and we will also see that it was not needed for our task</a:t>
            </a:r>
            <a:r>
              <a:rPr dirty="0"/>
              <a:t>; the balanced 3,000-image subset was used for the comparison.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04F91-C267-E77F-F6FF-00C5DA9B7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2FBEC4-37EC-E819-08E7-35B672BE629D}"/>
              </a:ext>
            </a:extLst>
          </p:cNvPr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A"/>
                </a:solidFill>
              </a:defRPr>
            </a:pPr>
            <a:r>
              <a:t>Dataset &amp; Experimental Split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AD3329-9D4D-C37A-3814-6DF58CFFA34B}"/>
              </a:ext>
            </a:extLst>
          </p:cNvPr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3"/>
                </a:solidFill>
              </a:defRPr>
            </a:pPr>
            <a:r>
              <a:rPr dirty="0"/>
              <a:t>What we actually trained 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6B9789-4032-0EB0-2BD9-648AF3197A33}"/>
              </a:ext>
            </a:extLst>
          </p:cNvPr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2</a:t>
            </a: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AA21CEFA-60D4-94E6-A15F-DC3FB4BF9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434" y="1923322"/>
            <a:ext cx="10492287" cy="3983702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11A8F89A-3F59-CC0A-2321-2CE65EB1A16F}"/>
              </a:ext>
            </a:extLst>
          </p:cNvPr>
          <p:cNvSpPr txBox="1"/>
          <p:nvPr/>
        </p:nvSpPr>
        <p:spPr>
          <a:xfrm>
            <a:off x="439563" y="2788638"/>
            <a:ext cx="902084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b="1" dirty="0">
                <a:solidFill>
                  <a:srgbClr val="5F6973"/>
                </a:solidFill>
              </a:rPr>
              <a:t>3d</a:t>
            </a:r>
            <a:r>
              <a:rPr lang="en-US" b="1" dirty="0"/>
              <a:t> </a:t>
            </a:r>
            <a:r>
              <a:rPr lang="en-US" sz="1400" b="1" dirty="0">
                <a:solidFill>
                  <a:srgbClr val="5F6973"/>
                </a:solidFill>
              </a:rPr>
              <a:t>printed</a:t>
            </a:r>
            <a:endParaRPr lang="he-IL" sz="1400" b="1" dirty="0">
              <a:solidFill>
                <a:srgbClr val="5F6973"/>
              </a:solidFill>
            </a:endParaRP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40C0789B-8185-7CA4-9AC7-4E5B45A31349}"/>
              </a:ext>
            </a:extLst>
          </p:cNvPr>
          <p:cNvSpPr txBox="1"/>
          <p:nvPr/>
        </p:nvSpPr>
        <p:spPr>
          <a:xfrm>
            <a:off x="439563" y="4508715"/>
            <a:ext cx="902084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b="1" dirty="0">
                <a:solidFill>
                  <a:srgbClr val="5F6973"/>
                </a:solidFill>
              </a:rPr>
              <a:t>Not 3d</a:t>
            </a:r>
            <a:r>
              <a:rPr lang="en-US" b="1" dirty="0"/>
              <a:t> </a:t>
            </a:r>
            <a:r>
              <a:rPr lang="en-US" sz="1400" b="1" dirty="0">
                <a:solidFill>
                  <a:srgbClr val="5F6973"/>
                </a:solidFill>
              </a:rPr>
              <a:t>printed</a:t>
            </a:r>
            <a:endParaRPr lang="he-IL" sz="1400" b="1" dirty="0">
              <a:solidFill>
                <a:srgbClr val="5F69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485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A"/>
                </a:solidFill>
              </a:defRPr>
            </a:pPr>
            <a:r>
              <a:t>Same Training Protocol — Different Backbones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3"/>
                </a:solidFill>
              </a:defRPr>
            </a:pPr>
            <a:r>
              <a:rPr dirty="0"/>
              <a:t>The comparison was designed so architecture was the main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93520"/>
            <a:ext cx="10789920" cy="3632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300"/>
              </a:spcAft>
              <a:buFont typeface="Arial" panose="020B0604020202020204" pitchFamily="34" charset="0"/>
              <a:buChar char="•"/>
              <a:defRPr sz="1700">
                <a:solidFill>
                  <a:srgbClr val="1E232A"/>
                </a:solidFill>
              </a:defRPr>
            </a:pPr>
            <a:r>
              <a:rPr dirty="0"/>
              <a:t>Input: 256 × 256 × 3 RGB images | Batch size: 16 | Adam</a:t>
            </a:r>
            <a:r>
              <a:rPr lang="en-US" dirty="0"/>
              <a:t> optimizer</a:t>
            </a:r>
            <a:r>
              <a:rPr dirty="0"/>
              <a:t>| Binary cross-entropy</a:t>
            </a:r>
          </a:p>
          <a:p>
            <a:pPr marL="285750" indent="-285750">
              <a:lnSpc>
                <a:spcPct val="150000"/>
              </a:lnSpc>
              <a:spcAft>
                <a:spcPts val="1300"/>
              </a:spcAft>
              <a:buFont typeface="Arial" panose="020B0604020202020204" pitchFamily="34" charset="0"/>
              <a:buChar char="•"/>
              <a:defRPr sz="1700">
                <a:solidFill>
                  <a:srgbClr val="1E232A"/>
                </a:solidFill>
              </a:defRPr>
            </a:pPr>
            <a:r>
              <a:rPr lang="he-IL" sz="1700" b="1" dirty="0" err="1"/>
              <a:t>No</a:t>
            </a:r>
            <a:r>
              <a:rPr lang="he-IL" sz="1700" b="1" dirty="0"/>
              <a:t> </a:t>
            </a:r>
            <a:r>
              <a:rPr lang="he-IL" sz="1700" b="1" dirty="0" err="1"/>
              <a:t>additional</a:t>
            </a:r>
            <a:r>
              <a:rPr lang="he-IL" sz="1700" b="1" dirty="0"/>
              <a:t> </a:t>
            </a:r>
            <a:r>
              <a:rPr lang="he-IL" sz="1700" b="1" dirty="0" err="1"/>
              <a:t>augmentation</a:t>
            </a:r>
            <a:r>
              <a:rPr lang="he-IL" sz="1700" b="1" dirty="0"/>
              <a:t>:</a:t>
            </a:r>
            <a:r>
              <a:rPr lang="he-IL" sz="1700" dirty="0"/>
              <a:t> </a:t>
            </a:r>
            <a:r>
              <a:rPr lang="he-IL" sz="1700" dirty="0" err="1"/>
              <a:t>The</a:t>
            </a:r>
            <a:r>
              <a:rPr lang="he-IL" sz="1700" dirty="0"/>
              <a:t> </a:t>
            </a:r>
            <a:r>
              <a:rPr lang="he-IL" sz="1700" dirty="0" err="1"/>
              <a:t>dataset</a:t>
            </a:r>
            <a:r>
              <a:rPr lang="he-IL" sz="1700" dirty="0"/>
              <a:t> </a:t>
            </a:r>
            <a:r>
              <a:rPr lang="he-IL" sz="1700" dirty="0" err="1"/>
              <a:t>already</a:t>
            </a:r>
            <a:r>
              <a:rPr lang="he-IL" sz="1700" dirty="0"/>
              <a:t> </a:t>
            </a:r>
            <a:r>
              <a:rPr lang="he-IL" sz="1700" dirty="0" err="1"/>
              <a:t>contained</a:t>
            </a:r>
            <a:r>
              <a:rPr lang="he-IL" sz="1700" dirty="0"/>
              <a:t> </a:t>
            </a:r>
            <a:r>
              <a:rPr lang="he-IL" sz="1700" dirty="0" err="1"/>
              <a:t>rotated</a:t>
            </a:r>
            <a:r>
              <a:rPr lang="he-IL" sz="1700" dirty="0"/>
              <a:t>/</a:t>
            </a:r>
            <a:r>
              <a:rPr lang="he-IL" sz="1700" dirty="0" err="1"/>
              <a:t>transformed</a:t>
            </a:r>
            <a:r>
              <a:rPr lang="he-IL" sz="1700" dirty="0"/>
              <a:t> </a:t>
            </a:r>
            <a:r>
              <a:rPr lang="he-IL" sz="1700" dirty="0" err="1"/>
              <a:t>versions</a:t>
            </a:r>
            <a:r>
              <a:rPr lang="he-IL" sz="1700" dirty="0"/>
              <a:t> </a:t>
            </a:r>
            <a:r>
              <a:rPr lang="he-IL" sz="1700" dirty="0" err="1"/>
              <a:t>of</a:t>
            </a:r>
            <a:r>
              <a:rPr lang="he-IL" sz="1700" dirty="0"/>
              <a:t> </a:t>
            </a:r>
            <a:r>
              <a:rPr lang="he-IL" sz="1700" dirty="0" err="1"/>
              <a:t>the</a:t>
            </a:r>
            <a:r>
              <a:rPr lang="he-IL" sz="1700" dirty="0"/>
              <a:t> </a:t>
            </a:r>
            <a:r>
              <a:rPr lang="he-IL" sz="1700" dirty="0" err="1"/>
              <a:t>images</a:t>
            </a:r>
            <a:r>
              <a:rPr lang="he-IL" sz="1700" dirty="0"/>
              <a:t>, </a:t>
            </a:r>
            <a:r>
              <a:rPr lang="he-IL" sz="1700" dirty="0" err="1"/>
              <a:t>so</a:t>
            </a:r>
            <a:r>
              <a:rPr lang="he-IL" sz="1700" dirty="0"/>
              <a:t> </a:t>
            </a:r>
            <a:r>
              <a:rPr lang="he-IL" sz="1700" dirty="0" err="1"/>
              <a:t>further</a:t>
            </a:r>
            <a:r>
              <a:rPr lang="he-IL" sz="1700" dirty="0"/>
              <a:t> </a:t>
            </a:r>
            <a:r>
              <a:rPr lang="he-IL" sz="1700" dirty="0" err="1"/>
              <a:t>rotation</a:t>
            </a:r>
            <a:r>
              <a:rPr lang="he-IL" sz="1700" dirty="0"/>
              <a:t> </a:t>
            </a:r>
            <a:r>
              <a:rPr lang="he-IL" sz="1700" dirty="0" err="1"/>
              <a:t>or</a:t>
            </a:r>
            <a:r>
              <a:rPr lang="he-IL" sz="1700" dirty="0"/>
              <a:t> </a:t>
            </a:r>
            <a:r>
              <a:rPr lang="he-IL" sz="1700" dirty="0" err="1"/>
              <a:t>augmentation</a:t>
            </a:r>
            <a:r>
              <a:rPr lang="he-IL" sz="1700" dirty="0"/>
              <a:t> </a:t>
            </a:r>
            <a:r>
              <a:rPr lang="he-IL" sz="1700" dirty="0" err="1"/>
              <a:t>was</a:t>
            </a:r>
            <a:r>
              <a:rPr lang="he-IL" sz="1700" dirty="0"/>
              <a:t> </a:t>
            </a:r>
            <a:r>
              <a:rPr lang="he-IL" sz="1700" dirty="0" err="1"/>
              <a:t>not</a:t>
            </a:r>
            <a:r>
              <a:rPr lang="he-IL" sz="1700" dirty="0"/>
              <a:t> </a:t>
            </a:r>
            <a:r>
              <a:rPr lang="he-IL" sz="1700" dirty="0" err="1"/>
              <a:t>necessary</a:t>
            </a:r>
            <a:r>
              <a:rPr lang="he-IL" sz="1700" dirty="0"/>
              <a:t>.</a:t>
            </a:r>
            <a:endParaRPr lang="he-IL" dirty="0"/>
          </a:p>
          <a:p>
            <a:pPr marL="285750" indent="-285750">
              <a:lnSpc>
                <a:spcPct val="150000"/>
              </a:lnSpc>
              <a:spcAft>
                <a:spcPts val="1300"/>
              </a:spcAft>
              <a:buFont typeface="Arial" panose="020B0604020202020204" pitchFamily="34" charset="0"/>
              <a:buChar char="•"/>
              <a:defRPr sz="1700">
                <a:solidFill>
                  <a:srgbClr val="1E232A"/>
                </a:solidFill>
              </a:defRPr>
            </a:pPr>
            <a:r>
              <a:rPr dirty="0"/>
              <a:t>Common head: </a:t>
            </a:r>
            <a:r>
              <a:rPr b="1" dirty="0"/>
              <a:t>GlobalAveragePooling2D</a:t>
            </a:r>
            <a:r>
              <a:rPr dirty="0"/>
              <a:t> → </a:t>
            </a:r>
            <a:r>
              <a:rPr b="1" dirty="0"/>
              <a:t>Dense(256, </a:t>
            </a:r>
            <a:r>
              <a:rPr b="1" dirty="0" err="1"/>
              <a:t>ReLU</a:t>
            </a:r>
            <a:r>
              <a:rPr b="1" dirty="0"/>
              <a:t>) </a:t>
            </a:r>
            <a:r>
              <a:rPr dirty="0"/>
              <a:t>→ </a:t>
            </a:r>
            <a:r>
              <a:rPr b="1" dirty="0"/>
              <a:t>Dropout(0.5) </a:t>
            </a:r>
            <a:r>
              <a:rPr dirty="0"/>
              <a:t>→ </a:t>
            </a:r>
            <a:r>
              <a:rPr b="1" dirty="0"/>
              <a:t>Sigmoid</a:t>
            </a:r>
            <a:endParaRPr lang="he-IL" b="1" dirty="0"/>
          </a:p>
          <a:p>
            <a:pPr marL="285750" indent="-285750">
              <a:lnSpc>
                <a:spcPct val="150000"/>
              </a:lnSpc>
              <a:spcAft>
                <a:spcPts val="1300"/>
              </a:spcAft>
              <a:buFont typeface="Arial" panose="020B0604020202020204" pitchFamily="34" charset="0"/>
              <a:buChar char="•"/>
              <a:defRPr sz="1700">
                <a:solidFill>
                  <a:srgbClr val="1E232A"/>
                </a:solidFill>
              </a:defRPr>
            </a:pPr>
            <a:r>
              <a:rPr dirty="0"/>
              <a:t>Stage 1: backbone frozen, learning rate 10⁻³, 3 epochs</a:t>
            </a:r>
          </a:p>
          <a:p>
            <a:pPr marL="285750" indent="-285750">
              <a:lnSpc>
                <a:spcPct val="150000"/>
              </a:lnSpc>
              <a:spcAft>
                <a:spcPts val="1300"/>
              </a:spcAft>
              <a:buFont typeface="Arial" panose="020B0604020202020204" pitchFamily="34" charset="0"/>
              <a:buChar char="•"/>
              <a:defRPr sz="1700">
                <a:solidFill>
                  <a:srgbClr val="1E232A"/>
                </a:solidFill>
              </a:defRPr>
            </a:pPr>
            <a:r>
              <a:rPr dirty="0"/>
              <a:t>Stage 2: upper layers fine-tuned, learning rate 10⁻⁵, 3 epochs</a:t>
            </a:r>
          </a:p>
          <a:p>
            <a:pPr marL="285750" indent="-285750">
              <a:lnSpc>
                <a:spcPct val="150000"/>
              </a:lnSpc>
              <a:spcAft>
                <a:spcPts val="1300"/>
              </a:spcAft>
              <a:buFont typeface="Arial" panose="020B0604020202020204" pitchFamily="34" charset="0"/>
              <a:buChar char="•"/>
              <a:defRPr sz="1700">
                <a:solidFill>
                  <a:srgbClr val="1E232A"/>
                </a:solidFill>
              </a:defRPr>
            </a:pPr>
            <a:r>
              <a:rPr dirty="0"/>
              <a:t>VGG16: top 4 layers unfrozen | ResNet50: top 20 | DenseNet121: top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56F20A-8781-6B7B-A180-EFDBF0BB5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B3688C-94C3-E2DC-DE5C-20CCC4EF286A}"/>
              </a:ext>
            </a:extLst>
          </p:cNvPr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A"/>
                </a:solidFill>
              </a:defRPr>
            </a:pPr>
            <a:r>
              <a:t>Same Training Protocol — Different Backbones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30F993-9F60-B15D-7885-9B0F512E4097}"/>
              </a:ext>
            </a:extLst>
          </p:cNvPr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3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8E60D5F6-C13A-68C8-5143-7FAA030B3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308" y="888947"/>
            <a:ext cx="8958904" cy="580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411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A"/>
                </a:solidFill>
              </a:defRPr>
            </a:pPr>
            <a:r>
              <a:t>Results: VGG16 Wins — but the Gap Is Small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4781" y="8641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3"/>
                </a:solidFill>
              </a:defRPr>
            </a:pPr>
            <a:r>
              <a:rPr dirty="0"/>
              <a:t>Held-out test set: 300 images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837668"/>
              </p:ext>
            </p:extLst>
          </p:nvPr>
        </p:nvGraphicFramePr>
        <p:xfrm>
          <a:off x="667512" y="1184148"/>
          <a:ext cx="10698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E232A"/>
                          </a:solidFill>
                        </a:defRPr>
                      </a:pPr>
                      <a:r>
                        <a:rPr dirty="0"/>
                        <a:t>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E232A"/>
                          </a:solidFill>
                        </a:defRPr>
                      </a:pPr>
                      <a:r>
                        <a:rPr dirty="0"/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E232A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E232A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E232A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E232A"/>
                          </a:solidFill>
                        </a:defRPr>
                      </a:pPr>
                      <a:r>
                        <a:rPr dirty="0"/>
                        <a:t>VGG16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32A"/>
                          </a:solidFill>
                        </a:defRPr>
                      </a:pPr>
                      <a:r>
                        <a:t>91.67%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32A"/>
                          </a:solidFill>
                        </a:defRPr>
                      </a:pPr>
                      <a:r>
                        <a:t>89.81%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32A"/>
                          </a:solidFill>
                        </a:defRPr>
                      </a:pPr>
                      <a:r>
                        <a:t>94.00%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32A"/>
                          </a:solidFill>
                        </a:defRPr>
                      </a:pPr>
                      <a:r>
                        <a:t>91.86%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E232A"/>
                          </a:solidFill>
                        </a:defRPr>
                      </a:pPr>
                      <a:r>
                        <a:rPr dirty="0"/>
                        <a:t>ResNet50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32A"/>
                          </a:solidFill>
                        </a:defRPr>
                      </a:pPr>
                      <a:r>
                        <a:t>90.33%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32A"/>
                          </a:solidFill>
                        </a:defRPr>
                      </a:pPr>
                      <a:r>
                        <a:t>90.60%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32A"/>
                          </a:solidFill>
                        </a:defRPr>
                      </a:pPr>
                      <a:r>
                        <a:t>90.00%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32A"/>
                          </a:solidFill>
                        </a:defRPr>
                      </a:pPr>
                      <a:r>
                        <a:t>90.30%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E232A"/>
                          </a:solidFill>
                        </a:defRPr>
                      </a:pPr>
                      <a:r>
                        <a:t>DenseNet121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32A"/>
                          </a:solidFill>
                        </a:defRPr>
                      </a:pPr>
                      <a:r>
                        <a:rPr dirty="0"/>
                        <a:t>88.33%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32A"/>
                          </a:solidFill>
                        </a:defRPr>
                      </a:pPr>
                      <a:r>
                        <a:t>88.59%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32A"/>
                          </a:solidFill>
                        </a:defRPr>
                      </a:pPr>
                      <a:r>
                        <a:t>88.00%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32A"/>
                          </a:solidFill>
                        </a:defRPr>
                      </a:pPr>
                      <a:r>
                        <a:rPr dirty="0"/>
                        <a:t>88.29%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4781" y="3785616"/>
            <a:ext cx="10058400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1E232A"/>
                </a:solidFill>
              </a:defRPr>
            </a:pPr>
            <a:r>
              <a:rPr dirty="0"/>
              <a:t>VGG16: 275 / 300 correct</a:t>
            </a:r>
          </a:p>
          <a:p>
            <a:pPr>
              <a:spcAft>
                <a:spcPts val="1300"/>
              </a:spcAft>
              <a:defRPr sz="1700">
                <a:solidFill>
                  <a:srgbClr val="1E232A"/>
                </a:solidFill>
              </a:defRPr>
            </a:pPr>
            <a:r>
              <a:rPr dirty="0"/>
              <a:t>ResNet50: 271 / 300 correct</a:t>
            </a:r>
          </a:p>
          <a:p>
            <a:pPr>
              <a:spcAft>
                <a:spcPts val="1300"/>
              </a:spcAft>
              <a:defRPr sz="1700">
                <a:solidFill>
                  <a:srgbClr val="1E232A"/>
                </a:solidFill>
              </a:defRPr>
            </a:pPr>
            <a:r>
              <a:rPr dirty="0"/>
              <a:t>DenseNet121: 265 / 300 correct</a:t>
            </a:r>
          </a:p>
          <a:p>
            <a:pPr>
              <a:spcAft>
                <a:spcPts val="1300"/>
              </a:spcAft>
              <a:defRPr sz="1700">
                <a:solidFill>
                  <a:srgbClr val="1E232A"/>
                </a:solidFill>
              </a:defRPr>
            </a:pPr>
            <a:r>
              <a:rPr dirty="0"/>
              <a:t>Only 10 correct predictions separate the best and</a:t>
            </a:r>
            <a:br>
              <a:rPr lang="en-US" dirty="0"/>
            </a:br>
            <a:r>
              <a:rPr dirty="0"/>
              <a:t>worst models.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4</a:t>
            </a: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422EFD3F-B9A1-751C-97F0-915B92AD7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7" y="3399129"/>
            <a:ext cx="6190488" cy="33907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198A9B10-4ACC-99E2-FB35-1FB7FA7FF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76" y="570162"/>
            <a:ext cx="9003298" cy="5105667"/>
          </a:xfrm>
          <a:prstGeom prst="rect">
            <a:avLst/>
          </a:prstGeom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B3221F9C-EBDB-9AFA-CDE1-7499C1801AF3}"/>
              </a:ext>
            </a:extLst>
          </p:cNvPr>
          <p:cNvSpPr txBox="1"/>
          <p:nvPr/>
        </p:nvSpPr>
        <p:spPr>
          <a:xfrm>
            <a:off x="1181488" y="5817108"/>
            <a:ext cx="10058400" cy="782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300"/>
              </a:spcAft>
              <a:buFont typeface="Arial" panose="020B0604020202020204" pitchFamily="34" charset="0"/>
              <a:buChar char="•"/>
              <a:defRPr sz="1700">
                <a:solidFill>
                  <a:srgbClr val="1E232A"/>
                </a:solidFill>
              </a:defRPr>
            </a:pPr>
            <a:r>
              <a:rPr lang="he-IL" sz="1700" dirty="0"/>
              <a:t>A </a:t>
            </a:r>
            <a:r>
              <a:rPr lang="he-IL" sz="1700" dirty="0" err="1"/>
              <a:t>model's</a:t>
            </a:r>
            <a:r>
              <a:rPr lang="he-IL" sz="1700" dirty="0"/>
              <a:t> </a:t>
            </a:r>
            <a:r>
              <a:rPr lang="he-IL" sz="1700" dirty="0" err="1"/>
              <a:t>depth</a:t>
            </a:r>
            <a:r>
              <a:rPr lang="he-IL" sz="1700" dirty="0"/>
              <a:t> </a:t>
            </a:r>
            <a:r>
              <a:rPr lang="he-IL" sz="1700" dirty="0" err="1"/>
              <a:t>does</a:t>
            </a:r>
            <a:r>
              <a:rPr lang="he-IL" sz="1700" dirty="0"/>
              <a:t> </a:t>
            </a:r>
            <a:r>
              <a:rPr lang="he-IL" sz="1700" dirty="0" err="1"/>
              <a:t>not</a:t>
            </a:r>
            <a:r>
              <a:rPr lang="he-IL" sz="1700" dirty="0"/>
              <a:t> </a:t>
            </a:r>
            <a:r>
              <a:rPr lang="he-IL" sz="1700" dirty="0" err="1"/>
              <a:t>determine</a:t>
            </a:r>
            <a:r>
              <a:rPr lang="he-IL" sz="1700" dirty="0"/>
              <a:t> </a:t>
            </a:r>
            <a:r>
              <a:rPr lang="he-IL" sz="1700" dirty="0" err="1"/>
              <a:t>its</a:t>
            </a:r>
            <a:r>
              <a:rPr lang="he-IL" sz="1700" dirty="0"/>
              <a:t> </a:t>
            </a:r>
            <a:r>
              <a:rPr lang="he-IL" sz="1700" dirty="0" err="1"/>
              <a:t>parameter</a:t>
            </a:r>
            <a:r>
              <a:rPr lang="he-IL" sz="1700" dirty="0"/>
              <a:t> </a:t>
            </a:r>
            <a:r>
              <a:rPr lang="he-IL" sz="1700" dirty="0" err="1"/>
              <a:t>count</a:t>
            </a:r>
            <a:endParaRPr lang="he-IL" sz="1700" dirty="0"/>
          </a:p>
          <a:p>
            <a:pPr marL="285750" indent="-285750">
              <a:spcAft>
                <a:spcPts val="1300"/>
              </a:spcAft>
              <a:buFont typeface="Arial" panose="020B0604020202020204" pitchFamily="34" charset="0"/>
              <a:buChar char="•"/>
              <a:defRPr sz="1700">
                <a:solidFill>
                  <a:srgbClr val="1E232A"/>
                </a:solidFill>
              </a:defRPr>
            </a:pPr>
            <a:r>
              <a:rPr lang="he-IL" sz="1700" dirty="0" err="1"/>
              <a:t>Parameter</a:t>
            </a:r>
            <a:r>
              <a:rPr lang="he-IL" sz="1700" dirty="0"/>
              <a:t> </a:t>
            </a:r>
            <a:r>
              <a:rPr lang="he-IL" sz="1700" dirty="0" err="1"/>
              <a:t>count</a:t>
            </a:r>
            <a:r>
              <a:rPr lang="he-IL" sz="1700" dirty="0"/>
              <a:t> </a:t>
            </a:r>
            <a:r>
              <a:rPr lang="he-IL" sz="1700" dirty="0" err="1"/>
              <a:t>does</a:t>
            </a:r>
            <a:r>
              <a:rPr lang="he-IL" sz="1700" dirty="0"/>
              <a:t> </a:t>
            </a:r>
            <a:r>
              <a:rPr lang="he-IL" sz="1700" dirty="0" err="1"/>
              <a:t>not</a:t>
            </a:r>
            <a:r>
              <a:rPr lang="he-IL" sz="1700" dirty="0"/>
              <a:t> </a:t>
            </a:r>
            <a:r>
              <a:rPr lang="he-IL" sz="1700" dirty="0" err="1"/>
              <a:t>determine</a:t>
            </a:r>
            <a:r>
              <a:rPr lang="he-IL" sz="1700" dirty="0"/>
              <a:t> </a:t>
            </a:r>
            <a:r>
              <a:rPr lang="he-IL" sz="1700" dirty="0" err="1"/>
              <a:t>performance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8980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3E820-2AD5-674E-6F15-FF303CD29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FD06A3-754F-2C24-C2E3-B44251BA5344}"/>
              </a:ext>
            </a:extLst>
          </p:cNvPr>
          <p:cNvSpPr txBox="1"/>
          <p:nvPr/>
        </p:nvSpPr>
        <p:spPr>
          <a:xfrm>
            <a:off x="594360" y="365760"/>
            <a:ext cx="23767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A"/>
                </a:solidFill>
              </a:defRPr>
            </a:pPr>
            <a:r>
              <a:rPr lang="en-US" sz="2800" b="1" dirty="0"/>
              <a:t>M</a:t>
            </a:r>
            <a:r>
              <a:rPr lang="he-IL" sz="2800" b="1" dirty="0" err="1"/>
              <a:t>ispredictions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E1B4E1-5CAC-E3B2-66ED-98FE65A095EE}"/>
              </a:ext>
            </a:extLst>
          </p:cNvPr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4</a:t>
            </a: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80DD952A-B5B2-F5F2-1273-87F4ACBDA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258" y="969663"/>
            <a:ext cx="9583770" cy="531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597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1584FB-67F8-265D-1B42-E406040AC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443DAF-2457-D346-A22A-8DC164CEEF14}"/>
              </a:ext>
            </a:extLst>
          </p:cNvPr>
          <p:cNvSpPr txBox="1"/>
          <p:nvPr/>
        </p:nvSpPr>
        <p:spPr>
          <a:xfrm>
            <a:off x="594360" y="365760"/>
            <a:ext cx="15894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A"/>
                </a:solidFill>
              </a:defRPr>
            </a:pPr>
            <a:r>
              <a:rPr lang="en-US" dirty="0"/>
              <a:t>Inference</a:t>
            </a:r>
            <a:endParaRPr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710F209B-8570-CCF4-A3E4-240A1A4C7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6" y="3429000"/>
            <a:ext cx="9749726" cy="2890975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8048CEC6-F152-536B-330C-16527A3AF91F}"/>
              </a:ext>
            </a:extLst>
          </p:cNvPr>
          <p:cNvSpPr txBox="1"/>
          <p:nvPr/>
        </p:nvSpPr>
        <p:spPr>
          <a:xfrm>
            <a:off x="993146" y="1435248"/>
            <a:ext cx="10058400" cy="121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1E232A"/>
                </a:solidFill>
              </a:defRPr>
            </a:pPr>
            <a:r>
              <a:rPr lang="en-US" dirty="0"/>
              <a:t>We took 4 images and inserted them into the VGG model.</a:t>
            </a:r>
          </a:p>
          <a:p>
            <a:pPr>
              <a:spcAft>
                <a:spcPts val="1300"/>
              </a:spcAft>
              <a:defRPr sz="1700">
                <a:solidFill>
                  <a:srgbClr val="1E232A"/>
                </a:solidFill>
              </a:defRPr>
            </a:pPr>
            <a:r>
              <a:rPr lang="en-US" dirty="0"/>
              <a:t>2 images were 3d printed (left side) and 2 were not (right side).</a:t>
            </a:r>
          </a:p>
          <a:p>
            <a:pPr>
              <a:spcAft>
                <a:spcPts val="1300"/>
              </a:spcAft>
              <a:defRPr sz="1700">
                <a:solidFill>
                  <a:srgbClr val="1E232A"/>
                </a:solidFill>
              </a:defRPr>
            </a:pPr>
            <a:r>
              <a:rPr lang="en-US" dirty="0"/>
              <a:t>The model thought all were NOT 3d printed.</a:t>
            </a:r>
          </a:p>
        </p:txBody>
      </p:sp>
    </p:spTree>
    <p:extLst>
      <p:ext uri="{BB962C8B-B14F-4D97-AF65-F5344CB8AC3E}">
        <p14:creationId xmlns:p14="http://schemas.microsoft.com/office/powerpoint/2010/main" val="3331916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A"/>
                </a:solidFill>
              </a:defRPr>
            </a:pPr>
            <a:r>
              <a:t>What the Class-Level Results Tell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3"/>
                </a:solidFill>
              </a:defRPr>
            </a:pPr>
            <a:r>
              <a:t>The models do not make exactly the same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5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866D5F7E-002D-2A0C-822E-7CE30DFBDAD2}"/>
              </a:ext>
            </a:extLst>
          </p:cNvPr>
          <p:cNvSpPr txBox="1"/>
          <p:nvPr/>
        </p:nvSpPr>
        <p:spPr>
          <a:xfrm>
            <a:off x="731520" y="1488142"/>
            <a:ext cx="10789920" cy="4809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300"/>
              </a:spcAft>
              <a:buFont typeface="Arial" panose="020B0604020202020204" pitchFamily="34" charset="0"/>
              <a:buChar char="•"/>
              <a:defRPr sz="1700">
                <a:solidFill>
                  <a:srgbClr val="1E232A"/>
                </a:solidFill>
              </a:defRPr>
            </a:pPr>
            <a:r>
              <a:rPr lang="en-US" dirty="0"/>
              <a:t>First – all of the models adapted really fast to our dataset, right after the first epoch. Probably, 3d printed images have similar features to many of the classes in ImageNet.</a:t>
            </a:r>
          </a:p>
          <a:p>
            <a:pPr marL="285750" indent="-285750">
              <a:lnSpc>
                <a:spcPct val="150000"/>
              </a:lnSpc>
              <a:spcAft>
                <a:spcPts val="1300"/>
              </a:spcAft>
              <a:buFont typeface="Arial" panose="020B0604020202020204" pitchFamily="34" charset="0"/>
              <a:buChar char="•"/>
              <a:defRPr sz="1700">
                <a:solidFill>
                  <a:srgbClr val="1E232A"/>
                </a:solidFill>
              </a:defRPr>
            </a:pPr>
            <a:r>
              <a:rPr dirty="0"/>
              <a:t>Model size alone is not the explanation: ResNet50 has ~24.1M parameters, yet ranks second.</a:t>
            </a:r>
          </a:p>
          <a:p>
            <a:pPr marL="285750" indent="-285750">
              <a:lnSpc>
                <a:spcPct val="150000"/>
              </a:lnSpc>
              <a:spcAft>
                <a:spcPts val="1300"/>
              </a:spcAft>
              <a:buFont typeface="Arial" panose="020B0604020202020204" pitchFamily="34" charset="0"/>
              <a:buChar char="•"/>
              <a:defRPr sz="1700">
                <a:solidFill>
                  <a:srgbClr val="1E232A"/>
                </a:solidFill>
              </a:defRPr>
            </a:pPr>
            <a:r>
              <a:rPr dirty="0"/>
              <a:t>DenseNet121 has ~7.3M parameters and reaches 88.33% — only 3.34 percentage points below VGG16.</a:t>
            </a:r>
          </a:p>
          <a:p>
            <a:pPr marL="285750" indent="-285750">
              <a:lnSpc>
                <a:spcPct val="150000"/>
              </a:lnSpc>
              <a:spcAft>
                <a:spcPts val="1300"/>
              </a:spcAft>
              <a:buFont typeface="Arial" panose="020B0604020202020204" pitchFamily="34" charset="0"/>
              <a:buChar char="•"/>
              <a:defRPr sz="1700">
                <a:solidFill>
                  <a:srgbClr val="1E232A"/>
                </a:solidFill>
              </a:defRPr>
            </a:pPr>
            <a:r>
              <a:rPr dirty="0"/>
              <a:t>Dense connectivity aggressively reuses and concatenates features; that is powerful, but this task may benefit more from preserving simple local texture patterns.</a:t>
            </a:r>
          </a:p>
          <a:p>
            <a:pPr marL="285750" indent="-285750">
              <a:lnSpc>
                <a:spcPct val="150000"/>
              </a:lnSpc>
              <a:spcAft>
                <a:spcPts val="1300"/>
              </a:spcAft>
              <a:buFont typeface="Arial" panose="020B0604020202020204" pitchFamily="34" charset="0"/>
              <a:buChar char="•"/>
              <a:defRPr sz="1700">
                <a:solidFill>
                  <a:srgbClr val="1E232A"/>
                </a:solidFill>
              </a:defRPr>
            </a:pPr>
            <a:r>
              <a:rPr dirty="0"/>
              <a:t>The task is relatively specific: distinguishing visual evidence of 3D printing rather than recognizing broad object categories.</a:t>
            </a:r>
          </a:p>
          <a:p>
            <a:pPr marL="285750" indent="-285750">
              <a:lnSpc>
                <a:spcPct val="150000"/>
              </a:lnSpc>
              <a:spcAft>
                <a:spcPts val="1300"/>
              </a:spcAft>
              <a:buFont typeface="Arial" panose="020B0604020202020204" pitchFamily="34" charset="0"/>
              <a:buChar char="•"/>
              <a:defRPr sz="1700">
                <a:solidFill>
                  <a:srgbClr val="1E232A"/>
                </a:solidFill>
              </a:defRPr>
            </a:pPr>
            <a:r>
              <a:rPr dirty="0"/>
              <a:t>Most importantly: with only 300 test images, the ranking is indicative, not statistically definitive.</a:t>
            </a:r>
            <a:r>
              <a:rPr lang="en-US" dirty="0"/>
              <a:t> We’ve tried on larger numbers and got similar results.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A"/>
                </a:solidFill>
              </a:defRPr>
            </a:pPr>
            <a:r>
              <a:rPr dirty="0"/>
              <a:t>ImageNet Helps — but It Is Not the Same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3"/>
                </a:solidFill>
              </a:defRPr>
            </a:pPr>
            <a:r>
              <a:t>Why transfer learning still makes 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3465"/>
            <a:ext cx="10789920" cy="2906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300"/>
              </a:spcAft>
              <a:buFont typeface="Arial" panose="020B0604020202020204" pitchFamily="34" charset="0"/>
              <a:buChar char="•"/>
              <a:defRPr sz="1700">
                <a:solidFill>
                  <a:srgbClr val="1E232A"/>
                </a:solidFill>
              </a:defRPr>
            </a:pPr>
            <a:r>
              <a:rPr dirty="0"/>
              <a:t>ImageNet pretraining gives the networks a useful starting point for edges, shapes, textures and other generic visual patterns.</a:t>
            </a:r>
          </a:p>
          <a:p>
            <a:pPr marL="285750" indent="-285750">
              <a:lnSpc>
                <a:spcPct val="150000"/>
              </a:lnSpc>
              <a:spcAft>
                <a:spcPts val="1300"/>
              </a:spcAft>
              <a:buFont typeface="Arial" panose="020B0604020202020204" pitchFamily="34" charset="0"/>
              <a:buChar char="•"/>
              <a:defRPr sz="1700">
                <a:solidFill>
                  <a:srgbClr val="1E232A"/>
                </a:solidFill>
              </a:defRPr>
            </a:pPr>
            <a:r>
              <a:rPr dirty="0"/>
              <a:t>But ImageNet is dominated by everyday natural objects; it was not designed around 3D-printing cues</a:t>
            </a:r>
            <a:r>
              <a:rPr lang="en-US" dirty="0"/>
              <a:t>, yet we did manage to execute transfer learning with few images and few training epochs.</a:t>
            </a:r>
            <a:endParaRPr dirty="0"/>
          </a:p>
          <a:p>
            <a:pPr marL="285750" indent="-285750">
              <a:lnSpc>
                <a:spcPct val="150000"/>
              </a:lnSpc>
              <a:spcAft>
                <a:spcPts val="1300"/>
              </a:spcAft>
              <a:buFont typeface="Arial" panose="020B0604020202020204" pitchFamily="34" charset="0"/>
              <a:buChar char="•"/>
              <a:defRPr sz="1700">
                <a:solidFill>
                  <a:srgbClr val="1E232A"/>
                </a:solidFill>
              </a:defRPr>
            </a:pPr>
            <a:r>
              <a:rPr dirty="0"/>
              <a:t>Result: all three models exceeded 88% accuracy despite the domain difference.</a:t>
            </a:r>
            <a:endParaRPr lang="he-IL" dirty="0"/>
          </a:p>
          <a:p>
            <a:pPr marL="285750" indent="-285750">
              <a:lnSpc>
                <a:spcPct val="150000"/>
              </a:lnSpc>
              <a:spcAft>
                <a:spcPts val="1300"/>
              </a:spcAft>
              <a:buFont typeface="Arial" panose="020B0604020202020204" pitchFamily="34" charset="0"/>
              <a:buChar char="•"/>
              <a:defRPr sz="1700">
                <a:solidFill>
                  <a:srgbClr val="1E232A"/>
                </a:solidFill>
              </a:defRPr>
            </a:pPr>
            <a:r>
              <a:rPr lang="en-US" dirty="0"/>
              <a:t>Bottom line: transfer learning works well for this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דרך מקושתת">
  <a:themeElements>
    <a:clrScheme name="דרך מקושתת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דרך מקושתת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143</TotalTime>
  <Words>661</Words>
  <Application>Microsoft Office PowerPoint</Application>
  <PresentationFormat>מסך רחב</PresentationFormat>
  <Paragraphs>88</Paragraphs>
  <Slides>11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11</vt:i4>
      </vt:variant>
    </vt:vector>
  </HeadingPairs>
  <TitlesOfParts>
    <vt:vector size="15" baseType="lpstr">
      <vt:lpstr>Arial</vt:lpstr>
      <vt:lpstr>Felix Titling</vt:lpstr>
      <vt:lpstr>Goudy Old Style</vt:lpstr>
      <vt:lpstr>דרך מקושתת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סיגל שטיין שרגא</cp:lastModifiedBy>
  <cp:revision>33</cp:revision>
  <dcterms:created xsi:type="dcterms:W3CDTF">2013-01-27T09:14:16Z</dcterms:created>
  <dcterms:modified xsi:type="dcterms:W3CDTF">2026-08-09T17:19:04Z</dcterms:modified>
  <cp:category/>
</cp:coreProperties>
</file>